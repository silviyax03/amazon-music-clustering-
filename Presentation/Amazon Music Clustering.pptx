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2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5171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05702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517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057886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58951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06895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33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5304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59730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218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3723812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0642908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131419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13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885537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36921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38AC11-24D1-45EA-98D5-623A2488FAB6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B5C783E2-042F-4EC0-B0DA-82C490EFE8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8786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5D78C-0A9B-8FCC-69E7-2F7273C4B80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80989" y="1608010"/>
            <a:ext cx="8915399" cy="945222"/>
          </a:xfrm>
        </p:spPr>
        <p:txBody>
          <a:bodyPr/>
          <a:lstStyle/>
          <a:p>
            <a:pPr algn="ctr"/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Amazon Music Clustering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E2BDE2-A26F-FA76-21E5-50BEF08ADE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94004" y="3914349"/>
            <a:ext cx="8915399" cy="1126283"/>
          </a:xfrm>
        </p:spPr>
        <p:txBody>
          <a:bodyPr>
            <a:normAutofit/>
          </a:bodyPr>
          <a:lstStyle/>
          <a:p>
            <a:pPr algn="r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-By </a:t>
            </a:r>
          </a:p>
          <a:p>
            <a:pPr algn="r"/>
            <a:r>
              <a:rPr lang="en-IN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Silviya X</a:t>
            </a:r>
          </a:p>
          <a:p>
            <a:pPr algn="r"/>
            <a:endParaRPr lang="en-US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400" dirty="0"/>
          </a:p>
          <a:p>
            <a:endParaRPr lang="en-IN" sz="24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85C44721-76B5-6C83-335F-CCCBA648B9B3}"/>
              </a:ext>
            </a:extLst>
          </p:cNvPr>
          <p:cNvSpPr txBox="1">
            <a:spLocks/>
          </p:cNvSpPr>
          <p:nvPr/>
        </p:nvSpPr>
        <p:spPr>
          <a:xfrm>
            <a:off x="2589214" y="4777379"/>
            <a:ext cx="8219200" cy="11262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800" kern="120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Font typeface="Wingdings 3" charset="2"/>
              <a:buNone/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0304377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F50C0C6-DCE5-9B26-DF2C-621227334BA5}"/>
              </a:ext>
            </a:extLst>
          </p:cNvPr>
          <p:cNvSpPr txBox="1"/>
          <p:nvPr/>
        </p:nvSpPr>
        <p:spPr>
          <a:xfrm>
            <a:off x="1839075" y="357326"/>
            <a:ext cx="9606338" cy="614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Problem Statement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With millions of songs on music platforms, manually categorizing them is difficult. This project uses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machine learning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group similar songs based on audio features such as danceability, energy,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acousticness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US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speechiness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valence, tempo, and duration. The goal is to identify meaningful clusters representing different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musical styles, moods, or content types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without predefined genre labels.</a:t>
            </a:r>
          </a:p>
          <a:p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Objectives</a:t>
            </a:r>
            <a:endParaRPr lang="en-US" altLang="en-US" dirty="0">
              <a:latin typeface="Arial" panose="020B0604020202020204" pitchFamily="34" charset="0"/>
            </a:endParaRP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Explore and preprocess Amazon Music song data.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Select and normalize relevant audio features.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Apply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group similar songs.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Determine the optimal number of clusters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Elbow Method and Silhouette Score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Evaluate and visualize the clusters using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PCA, Davies-Bouldin Index, and cluster profiles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Infer genre and audio characteristics of each cluster.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Provide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 analytics and business insights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recommendations and playlist curation.</a:t>
            </a:r>
            <a:endParaRPr lang="en-US" alt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213703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08474B0-8D72-1A10-20C1-22FBD7349699}"/>
              </a:ext>
            </a:extLst>
          </p:cNvPr>
          <p:cNvSpPr txBox="1"/>
          <p:nvPr/>
        </p:nvSpPr>
        <p:spPr>
          <a:xfrm>
            <a:off x="2270589" y="296146"/>
            <a:ext cx="8722759" cy="63304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Technology Stack</a:t>
            </a:r>
          </a:p>
          <a:p>
            <a:pPr lvl="1">
              <a:lnSpc>
                <a:spcPct val="150000"/>
              </a:lnSpc>
            </a:pP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Python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Programming language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Pandas, NumPy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Data manipulation and preprocessing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Scikit-learn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K-Means, PCA, and evaluation metrics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Matplotlib, Seaborn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Data visualization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Google </a:t>
            </a:r>
            <a:r>
              <a:rPr lang="en-IN" sz="17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Colab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– Development environment</a:t>
            </a:r>
          </a:p>
          <a:p>
            <a:pPr lvl="1">
              <a:lnSpc>
                <a:spcPct val="150000"/>
              </a:lnSpc>
            </a:pPr>
            <a:endParaRPr lang="en-IN" sz="17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</a:pP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 Description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Dataset: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single_genre_artists.csv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Records: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95,837 songs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Columns: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23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 Features: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Danceability, Energy, Loudness,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Speechiness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Acousticness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lang="en-IN" sz="17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Instrumentalness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Liveness, Valence, Tempo, and Duration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 Fields: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Song ID, Song Name, Artist ID, Artist Name, Genres, Release Date, and popularity-related fields</a:t>
            </a:r>
            <a:b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Target: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No predefined target label, as this is an </a:t>
            </a:r>
            <a:r>
              <a:rPr lang="en-IN" sz="1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unsupervised clustering</a:t>
            </a:r>
            <a:r>
              <a:rPr lang="en-IN" sz="1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project.</a:t>
            </a:r>
            <a:endParaRPr lang="en-US" altLang="en-US" sz="1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39175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D173530-94E3-B2FA-9E95-0A48394FF08B}"/>
              </a:ext>
            </a:extLst>
          </p:cNvPr>
          <p:cNvSpPr txBox="1"/>
          <p:nvPr/>
        </p:nvSpPr>
        <p:spPr>
          <a:xfrm>
            <a:off x="3048856" y="199914"/>
            <a:ext cx="6097712" cy="64633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Project Workflow</a:t>
            </a:r>
          </a:p>
          <a:p>
            <a:endParaRPr lang="en-IN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2"/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Collection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Exploration &amp; Cleaning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Selection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Scaling using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Elbow Method + Silhouette Score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 (K = 3)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Evaluation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&amp; Cluster Visualization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Profiling &amp; Genre Inference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&amp; Interpretation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↓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Export Clustered Dataset</a:t>
            </a:r>
          </a:p>
        </p:txBody>
      </p:sp>
    </p:spTree>
    <p:extLst>
      <p:ext uri="{BB962C8B-B14F-4D97-AF65-F5344CB8AC3E}">
        <p14:creationId xmlns:p14="http://schemas.microsoft.com/office/powerpoint/2010/main" val="30363773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FF90C34-A792-A674-B8D6-6525036A8804}"/>
              </a:ext>
            </a:extLst>
          </p:cNvPr>
          <p:cNvSpPr txBox="1"/>
          <p:nvPr/>
        </p:nvSpPr>
        <p:spPr>
          <a:xfrm>
            <a:off x="1684963" y="204447"/>
            <a:ext cx="9945384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Exploration &amp; Preprocessing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Exploration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Dataset contains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95,837 songs and 23 columns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Checked column names, data types, and statistical summary.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Verified missing values —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missing values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Checked duplicates —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 duplicate records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distributions of key audio features.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Preprocessing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Selected </a:t>
            </a: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10 audio features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relevant for clustering.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Excluded song and artist identification fields from the clustering input.</a:t>
            </a:r>
            <a:b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Applied </a:t>
            </a:r>
            <a:r>
              <a:rPr lang="en-IN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StandardScaler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normalize the features because K-Means is distance-based.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Selected Features</a:t>
            </a:r>
          </a:p>
          <a:p>
            <a:pPr lvl="1">
              <a:lnSpc>
                <a:spcPct val="150000"/>
              </a:lnSpc>
            </a:pP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Danceability | Energy | Loudness |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Speechiness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Acousticness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</a:t>
            </a:r>
            <a:r>
              <a:rPr lang="en-IN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Instrumentalness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| Liveness | Valence | Tempo | Duration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Result:</a:t>
            </a:r>
            <a:r>
              <a:rPr lang="en-IN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Clean and standardized feature matrix ready for clustering.</a:t>
            </a:r>
          </a:p>
        </p:txBody>
      </p:sp>
    </p:spTree>
    <p:extLst>
      <p:ext uri="{BB962C8B-B14F-4D97-AF65-F5344CB8AC3E}">
        <p14:creationId xmlns:p14="http://schemas.microsoft.com/office/powerpoint/2010/main" val="2787832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7513C21-E229-F842-2667-928013BECF64}"/>
              </a:ext>
            </a:extLst>
          </p:cNvPr>
          <p:cNvSpPr txBox="1"/>
          <p:nvPr/>
        </p:nvSpPr>
        <p:spPr>
          <a:xfrm>
            <a:off x="1993187" y="189305"/>
            <a:ext cx="853782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Distribution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A05581-C664-566B-DE08-4DA3F21629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064" y="731619"/>
            <a:ext cx="4676035" cy="28557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DFE5A3F-AF47-554C-488E-13D0F6C822E3}"/>
              </a:ext>
            </a:extLst>
          </p:cNvPr>
          <p:cNvSpPr txBox="1"/>
          <p:nvPr/>
        </p:nvSpPr>
        <p:spPr>
          <a:xfrm>
            <a:off x="6462445" y="3944282"/>
            <a:ext cx="5540337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Danceability: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songs have moderate to high danceability.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Energy: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Tracks show a wide range of energy levels.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Speechiness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songs have low </a:t>
            </a:r>
            <a:r>
              <a:rPr lang="en-US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speechiness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some speech-heavy tracks.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1B2F415-75B2-B79E-8C3C-9519D369DF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2588" y="731619"/>
            <a:ext cx="4918361" cy="286131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5FDEE85-683A-E742-5435-4AEB94CE7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6064" y="3760336"/>
            <a:ext cx="4676035" cy="28267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3033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2C579C2-D7F8-B8F6-EAAC-98A03C25E74D}"/>
              </a:ext>
            </a:extLst>
          </p:cNvPr>
          <p:cNvSpPr txBox="1"/>
          <p:nvPr/>
        </p:nvSpPr>
        <p:spPr>
          <a:xfrm>
            <a:off x="6264667" y="3254472"/>
            <a:ext cx="5745823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Observations</a:t>
            </a:r>
          </a:p>
          <a:p>
            <a:pPr lvl="1">
              <a:lnSpc>
                <a:spcPct val="150000"/>
              </a:lnSpc>
            </a:pP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Acousticness: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Wide variation from low to highly acoustic songs.</a:t>
            </a:r>
            <a:b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Instrumentalness: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Most tracks have very low instrumentalness.</a:t>
            </a:r>
            <a:b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Valence:</a:t>
            </a:r>
            <a:r>
              <a:rPr lang="en-US" sz="16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Songs show a broad range of musical positivity.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A17F7CA-A2CB-7823-E12A-EA30063053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330"/>
          <a:stretch>
            <a:fillRect/>
          </a:stretch>
        </p:blipFill>
        <p:spPr>
          <a:xfrm>
            <a:off x="1889943" y="332254"/>
            <a:ext cx="4206057" cy="25423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C0E9BE4-7DC6-79BD-D803-74D8FD3E6C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99673" y="332253"/>
            <a:ext cx="4206057" cy="254236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2D23A4-A969-E570-3DC5-1C021F907F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89943" y="3122470"/>
            <a:ext cx="4206056" cy="2534114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BED425A-BDEB-A7F3-E0FB-989F5CC24D48}"/>
              </a:ext>
            </a:extLst>
          </p:cNvPr>
          <p:cNvSpPr txBox="1"/>
          <p:nvPr/>
        </p:nvSpPr>
        <p:spPr>
          <a:xfrm>
            <a:off x="1335640" y="5732965"/>
            <a:ext cx="10674850" cy="7927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The audio features show significant variation across songs, providing a strong basis for clustering similar audio profiles.</a:t>
            </a:r>
          </a:p>
        </p:txBody>
      </p:sp>
    </p:spTree>
    <p:extLst>
      <p:ext uri="{BB962C8B-B14F-4D97-AF65-F5344CB8AC3E}">
        <p14:creationId xmlns:p14="http://schemas.microsoft.com/office/powerpoint/2010/main" val="15384054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8DC6800-415F-C6FE-D531-383B05F238A7}"/>
              </a:ext>
            </a:extLst>
          </p:cNvPr>
          <p:cNvSpPr txBox="1"/>
          <p:nvPr/>
        </p:nvSpPr>
        <p:spPr>
          <a:xfrm>
            <a:off x="1582220" y="199107"/>
            <a:ext cx="10366624" cy="29578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Choosing the Optimal Number of Clusters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Elbow Method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Tested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values from 2 to 10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Compared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inertia (SSE)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identify the elbow point.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reduction in inertia becomes more gradual as K increases.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</a:p>
          <a:p>
            <a:pPr>
              <a:lnSpc>
                <a:spcPct val="150000"/>
              </a:lnSpc>
              <a:buNone/>
            </a:pP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68899E-B3FA-B2DD-DB79-7EC0C4E9C0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6956" y="2988768"/>
            <a:ext cx="5219968" cy="326406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072B954-DF55-3E1E-5104-A6967ABE35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3262" y="3276288"/>
            <a:ext cx="2003088" cy="2477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29233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DC05655-1971-3955-D458-BEA76A5FF2EC}"/>
              </a:ext>
            </a:extLst>
          </p:cNvPr>
          <p:cNvSpPr txBox="1"/>
          <p:nvPr/>
        </p:nvSpPr>
        <p:spPr>
          <a:xfrm>
            <a:off x="1593149" y="343070"/>
            <a:ext cx="10222131" cy="6281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Silhouette Analysis</a:t>
            </a:r>
          </a:p>
          <a:p>
            <a:pPr lvl="1">
              <a:lnSpc>
                <a:spcPct val="150000"/>
              </a:lnSpc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Used a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random sample of 10,000 songs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efficient comparison.</a:t>
            </a:r>
            <a:b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= 3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achieved the highest Silhouette Score: </a:t>
            </a: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0.2364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</a:p>
          <a:p>
            <a:pPr>
              <a:lnSpc>
                <a:spcPct val="150000"/>
              </a:lnSpc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Selection: </a:t>
            </a: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Optimal number of clusters = 3</a:t>
            </a:r>
          </a:p>
          <a:p>
            <a:pPr>
              <a:lnSpc>
                <a:spcPct val="150000"/>
              </a:lnSpc>
              <a:buNone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  <a:endParaRPr lang="en-US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K = 3 provides the best balance between cluster compactness and separation among the tested values.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4C6439-B381-0A4D-141C-79C8464962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9495" y="2167847"/>
            <a:ext cx="4705722" cy="306169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1D9093C-9731-A40C-4E8A-FD082F92A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63" y="2519741"/>
            <a:ext cx="1733273" cy="2129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8160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CCB96BE-A2F5-88AA-55B0-40BF8B8EEF5E}"/>
              </a:ext>
            </a:extLst>
          </p:cNvPr>
          <p:cNvSpPr txBox="1"/>
          <p:nvPr/>
        </p:nvSpPr>
        <p:spPr>
          <a:xfrm>
            <a:off x="1962364" y="178156"/>
            <a:ext cx="9421402" cy="44861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Implementation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Applied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clustering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standardized audio features.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Selected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 = 3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Elbow Method and Silhouette analysis.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Assigned every song to one of three clusters.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Added the cluster label to the original dataset.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Cluster Distribution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0: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12,513 songs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1: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30,807 songs 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2: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52,517 songs 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</a:p>
          <a:p>
            <a:pPr>
              <a:lnSpc>
                <a:spcPct val="150000"/>
              </a:lnSpc>
              <a:buNone/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94FB464-445F-C2A9-886F-ECE2E02600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307" y="4285417"/>
            <a:ext cx="3602805" cy="232250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FBE50C1-E213-1C6D-1D96-0FE05638691E}"/>
              </a:ext>
            </a:extLst>
          </p:cNvPr>
          <p:cNvSpPr txBox="1"/>
          <p:nvPr/>
        </p:nvSpPr>
        <p:spPr>
          <a:xfrm>
            <a:off x="6495836" y="4808977"/>
            <a:ext cx="4887929" cy="11621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Insight:</a:t>
            </a:r>
            <a:endParaRPr lang="en-US"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model successfully grouped 95,837 songs into three distinct audio-profile clusters.</a:t>
            </a:r>
          </a:p>
        </p:txBody>
      </p:sp>
    </p:spTree>
    <p:extLst>
      <p:ext uri="{BB962C8B-B14F-4D97-AF65-F5344CB8AC3E}">
        <p14:creationId xmlns:p14="http://schemas.microsoft.com/office/powerpoint/2010/main" val="39545099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07531E8-BD40-9676-C56A-6BF4B2ABEFC8}"/>
              </a:ext>
            </a:extLst>
          </p:cNvPr>
          <p:cNvSpPr txBox="1"/>
          <p:nvPr/>
        </p:nvSpPr>
        <p:spPr>
          <a:xfrm>
            <a:off x="1839074" y="440348"/>
            <a:ext cx="9770724" cy="49430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Evaluation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Evaluation Metrics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Silhouette Score: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0.2423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how well each song fits within its assigned cluster compared with other clusters.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Davies-Bouldin Index: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1.5702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similarity between clusters; lower values indicate better separation.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Inertia: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658,335.08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Measures within-cluster compactness and supports the Elbow Method analysis.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final K-Means model provides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moderate cluster separation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with meaningful differences in the audio characteristics of the three groups.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Result</a:t>
            </a:r>
          </a:p>
          <a:p>
            <a:pPr>
              <a:lnSpc>
                <a:spcPct val="150000"/>
              </a:lnSpc>
              <a:buNone/>
            </a:pPr>
            <a:endParaRPr lang="en-US" sz="16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69F35BA-3168-A4B1-3107-8CA27971AF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4863" y="4975029"/>
            <a:ext cx="3179573" cy="1271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12109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567E26-AA3E-916E-2F66-6533F940F44B}"/>
              </a:ext>
            </a:extLst>
          </p:cNvPr>
          <p:cNvSpPr txBox="1"/>
          <p:nvPr/>
        </p:nvSpPr>
        <p:spPr>
          <a:xfrm>
            <a:off x="1551398" y="72930"/>
            <a:ext cx="10407722" cy="39294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spcAft>
                <a:spcPts val="100"/>
              </a:spcAft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Analysis &amp; Cluster Visualization</a:t>
            </a:r>
          </a:p>
          <a:p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Analysis</a:t>
            </a:r>
          </a:p>
          <a:p>
            <a:pPr lvl="1">
              <a:lnSpc>
                <a:spcPct val="150000"/>
              </a:lnSpc>
              <a:spcAft>
                <a:spcPts val="100"/>
              </a:spcAf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Applied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Principal Component Analysis (PCA)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reduce the 10 standardized features to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2 components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visualization.</a:t>
            </a:r>
            <a:b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PC1: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27.08% of variance</a:t>
            </a:r>
            <a:b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PC2: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18.82% of variance</a:t>
            </a:r>
            <a:b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explained variance: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45.90%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Visualization</a:t>
            </a:r>
          </a:p>
          <a:p>
            <a:pPr lvl="1">
              <a:lnSpc>
                <a:spcPct val="150000"/>
              </a:lnSpc>
              <a:spcAft>
                <a:spcPts val="100"/>
              </a:spcAft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Plotted the three K-Means clusters using the first two principal components.</a:t>
            </a:r>
            <a:b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visualization shows </a:t>
            </a: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three distinguishable groups with some overlap</a:t>
            </a: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which is expected for songs with similar audio characteristics.</a:t>
            </a:r>
          </a:p>
          <a:p>
            <a:pPr>
              <a:lnSpc>
                <a:spcPct val="150000"/>
              </a:lnSpc>
              <a:spcAft>
                <a:spcPts val="100"/>
              </a:spcAft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</a:t>
            </a:r>
            <a:endParaRPr lang="en-US" sz="15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629683-3E74-BEBD-1824-DBFF3DB33D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8184" y="3918071"/>
            <a:ext cx="4277075" cy="286699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67350E-AF81-9D52-E004-4371274CBACC}"/>
              </a:ext>
            </a:extLst>
          </p:cNvPr>
          <p:cNvSpPr txBox="1"/>
          <p:nvPr/>
        </p:nvSpPr>
        <p:spPr>
          <a:xfrm>
            <a:off x="7068620" y="4434172"/>
            <a:ext cx="4890500" cy="14415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pPr lvl="1">
              <a:lnSpc>
                <a:spcPct val="150000"/>
              </a:lnSpc>
            </a:pPr>
            <a:r>
              <a:rPr lang="en-US" sz="15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provides a 2D view of the clustering structure and helps interpret how the three audio-profile clusters are distributed.</a:t>
            </a:r>
          </a:p>
        </p:txBody>
      </p:sp>
    </p:spTree>
    <p:extLst>
      <p:ext uri="{BB962C8B-B14F-4D97-AF65-F5344CB8AC3E}">
        <p14:creationId xmlns:p14="http://schemas.microsoft.com/office/powerpoint/2010/main" val="5670385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86B9B019-1980-57DB-D07F-E38377BB1C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224851"/>
              </p:ext>
            </p:extLst>
          </p:nvPr>
        </p:nvGraphicFramePr>
        <p:xfrm>
          <a:off x="2917986" y="679214"/>
          <a:ext cx="6606158" cy="2133558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974476">
                  <a:extLst>
                    <a:ext uri="{9D8B030D-6E8A-4147-A177-3AD203B41FA5}">
                      <a16:colId xmlns:a16="http://schemas.microsoft.com/office/drawing/2014/main" val="2584806647"/>
                    </a:ext>
                  </a:extLst>
                </a:gridCol>
                <a:gridCol w="3261130">
                  <a:extLst>
                    <a:ext uri="{9D8B030D-6E8A-4147-A177-3AD203B41FA5}">
                      <a16:colId xmlns:a16="http://schemas.microsoft.com/office/drawing/2014/main" val="3027640441"/>
                    </a:ext>
                  </a:extLst>
                </a:gridCol>
                <a:gridCol w="2370552">
                  <a:extLst>
                    <a:ext uri="{9D8B030D-6E8A-4147-A177-3AD203B41FA5}">
                      <a16:colId xmlns:a16="http://schemas.microsoft.com/office/drawing/2014/main" val="319145070"/>
                    </a:ext>
                  </a:extLst>
                </a:gridCol>
              </a:tblGrid>
              <a:tr h="23338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Key Audio Characteristics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Profile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1383295"/>
                  </a:ext>
                </a:extLst>
              </a:tr>
              <a:tr h="63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 0</a:t>
                      </a:r>
                      <a:endParaRPr lang="en-IN" sz="1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Very high </a:t>
                      </a:r>
                      <a:r>
                        <a:rPr lang="en-US" sz="15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speechiness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(</a:t>
                      </a:r>
                      <a:r>
                        <a:rPr lang="en-US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≈ 0.83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), higher liveness, shorter duration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Speech / Spoken-Content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87986270"/>
                  </a:ext>
                </a:extLst>
              </a:tr>
              <a:tr h="6324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 1</a:t>
                      </a:r>
                      <a:endParaRPr lang="en-IN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</a:t>
                      </a:r>
                      <a:r>
                        <a:rPr lang="en-US" sz="15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acousticness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</a:t>
                      </a:r>
                      <a:r>
                        <a:rPr lang="en-US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(≈ 0.75)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, highest </a:t>
                      </a:r>
                      <a:r>
                        <a:rPr lang="en-US" sz="150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instrumentalness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low energy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Acoustic / Instrumental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53327776"/>
                  </a:ext>
                </a:extLst>
              </a:tr>
              <a:tr h="4450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 2</a:t>
                      </a:r>
                      <a:endParaRPr lang="en-IN" sz="150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High energy </a:t>
                      </a:r>
                      <a:r>
                        <a:rPr lang="en-US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(≈ 0.69)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, loudness, valence </a:t>
                      </a:r>
                      <a:r>
                        <a:rPr lang="en-US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(≈ 0.67)</a:t>
                      </a:r>
                      <a:r>
                        <a:rPr lang="en-US" sz="150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 and tempo </a:t>
                      </a:r>
                      <a:r>
                        <a:rPr lang="en-US" sz="15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(≈ 124.9 BPM)]</a:t>
                      </a:r>
                      <a:endParaRPr lang="en-US" sz="150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5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Energetic / Upbeat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54035639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D69FBD0-B195-A8C2-3B33-9A8FBC2D0186}"/>
              </a:ext>
            </a:extLst>
          </p:cNvPr>
          <p:cNvSpPr txBox="1"/>
          <p:nvPr/>
        </p:nvSpPr>
        <p:spPr>
          <a:xfrm>
            <a:off x="1664414" y="94439"/>
            <a:ext cx="947277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Profiling</a:t>
            </a:r>
          </a:p>
          <a:p>
            <a:pPr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Characteristics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8CB9E8-F9A1-C3CF-2484-2B08C97ADCE2}"/>
              </a:ext>
            </a:extLst>
          </p:cNvPr>
          <p:cNvSpPr txBox="1"/>
          <p:nvPr/>
        </p:nvSpPr>
        <p:spPr>
          <a:xfrm>
            <a:off x="1664414" y="2902907"/>
            <a:ext cx="9585788" cy="4028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5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63872C9-B01E-2056-1C76-76EECFD6D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986" y="3251771"/>
            <a:ext cx="6748134" cy="3299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64929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B83B6A-A452-CAB9-83FD-0ECFF86B30EA}"/>
              </a:ext>
            </a:extLst>
          </p:cNvPr>
          <p:cNvSpPr txBox="1"/>
          <p:nvPr/>
        </p:nvSpPr>
        <p:spPr>
          <a:xfrm>
            <a:off x="1613043" y="104063"/>
            <a:ext cx="9842642" cy="22701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Feature Heatmap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Feature Comparison Across Clusters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heatmap shows how each audio feature varies across the three clusters.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Positive values indicate features that are relatively higher for the cluster.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Negative values indicate features that are relatively lower.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Visualization: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108B2F5-B2F0-4696-28C4-A035AB4C2F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6880" y="2399527"/>
            <a:ext cx="5908709" cy="416860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C1669AC-D8B2-4661-B119-D26B41035FC9}"/>
              </a:ext>
            </a:extLst>
          </p:cNvPr>
          <p:cNvSpPr txBox="1"/>
          <p:nvPr/>
        </p:nvSpPr>
        <p:spPr>
          <a:xfrm>
            <a:off x="7511477" y="3429000"/>
            <a:ext cx="4423669" cy="15314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heatmap clearly highlights the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dominant audio characteristics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that distinguish the three clusters.</a:t>
            </a:r>
          </a:p>
        </p:txBody>
      </p:sp>
    </p:spTree>
    <p:extLst>
      <p:ext uri="{BB962C8B-B14F-4D97-AF65-F5344CB8AC3E}">
        <p14:creationId xmlns:p14="http://schemas.microsoft.com/office/powerpoint/2010/main" val="3545406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6EE62DA-1162-0C5A-2D88-01E9E214BF6A}"/>
              </a:ext>
            </a:extLst>
          </p:cNvPr>
          <p:cNvSpPr txBox="1"/>
          <p:nvPr/>
        </p:nvSpPr>
        <p:spPr>
          <a:xfrm>
            <a:off x="2085654" y="94350"/>
            <a:ext cx="9411128" cy="1900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Genre Inference &amp; Analysis</a:t>
            </a:r>
          </a:p>
          <a:p>
            <a:pPr>
              <a:lnSpc>
                <a:spcPct val="150000"/>
              </a:lnSpc>
              <a:buNone/>
            </a:pP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Genre Analysis</a:t>
            </a:r>
          </a:p>
          <a:p>
            <a:pPr>
              <a:lnSpc>
                <a:spcPct val="150000"/>
              </a:lnSpc>
              <a:buNone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Genre information was </a:t>
            </a:r>
            <a:r>
              <a:rPr lang="en-IN" sz="16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analyzed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after clustering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interpret the audio-profile groups.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Genre labels were </a:t>
            </a:r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not used as input features</a:t>
            </a: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 K-Means.</a:t>
            </a:r>
            <a:b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Each cluster contains multiple genres, showing that different genres can share similar audio characteristics.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9A41581-E9CD-766B-31E3-5F5CCFB37A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6506" y="1995127"/>
            <a:ext cx="3548866" cy="223329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9F68FC2-71AB-DC81-AB6E-962027907B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3900" y="1995127"/>
            <a:ext cx="3441469" cy="223329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08AA982-40A8-29CB-DF46-0AA384CC36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42982" y="4397469"/>
            <a:ext cx="3548866" cy="2280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6953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8FA9EF-2351-4071-05CC-E0620F1D5287}"/>
              </a:ext>
            </a:extLst>
          </p:cNvPr>
          <p:cNvSpPr txBox="1"/>
          <p:nvPr/>
        </p:nvSpPr>
        <p:spPr>
          <a:xfrm>
            <a:off x="1674687" y="338414"/>
            <a:ext cx="9904287" cy="605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Business Insights &amp; Use Cases</a:t>
            </a:r>
          </a:p>
          <a:p>
            <a:pPr algn="ctr">
              <a:lnSpc>
                <a:spcPct val="150000"/>
              </a:lnSpc>
              <a:buNone/>
            </a:pPr>
            <a:endParaRPr lang="en-US" sz="8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Personalized Playlist Curation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Group songs with similar audio profiles to create targeted playlists.</a:t>
            </a:r>
            <a:b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2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support energetic/upbeat playlists, while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1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can support calmer acoustic playlists.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Improved Song Discovery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Recommend songs from the same audio-profile cluster based on a user's preferred sound characteristics.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Artist Analysis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Help artists compare their tracks with songs having similar audio characteristics and identify relevant musical profiles.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Music Content Segmentation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Separate spoken-content, acoustic/instrumental, and energetic content for better catalog organization and promotion.</a:t>
            </a:r>
          </a:p>
          <a:p>
            <a:pPr lvl="1">
              <a:lnSpc>
                <a:spcPct val="150000"/>
              </a:lnSpc>
            </a:pPr>
            <a:endParaRPr lang="en-US" sz="8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Insight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clustering results can support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recommendation, playlist generation, artist analysis, and content segmentation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audio characteristics.</a:t>
            </a:r>
          </a:p>
        </p:txBody>
      </p:sp>
    </p:spTree>
    <p:extLst>
      <p:ext uri="{BB962C8B-B14F-4D97-AF65-F5344CB8AC3E}">
        <p14:creationId xmlns:p14="http://schemas.microsoft.com/office/powerpoint/2010/main" val="20708752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62EC73-819D-D06A-3E44-CBF167C021C5}"/>
              </a:ext>
            </a:extLst>
          </p:cNvPr>
          <p:cNvSpPr txBox="1"/>
          <p:nvPr/>
        </p:nvSpPr>
        <p:spPr>
          <a:xfrm>
            <a:off x="1602768" y="74887"/>
            <a:ext cx="9698805" cy="6495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Results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Model Performance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55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5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Distribution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0: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12,513 songs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1: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30,807 songs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2: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52,517 songs </a:t>
            </a:r>
            <a:endParaRPr kumimoji="0" lang="en-US" altLang="en-US" sz="15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PCA Visualization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PC1: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27.08%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PC2: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18.82% 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Total explained variance: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45.90%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endParaRPr kumimoji="0" lang="en-US" altLang="en-US" sz="155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 Result</a:t>
            </a:r>
          </a:p>
          <a:p>
            <a:pPr lvl="1"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successfully grouped the </a:t>
            </a:r>
            <a:r>
              <a:rPr kumimoji="0" lang="en-US" altLang="en-US" sz="155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95,837 songs into three distinct audio-profile clusters</a:t>
            </a:r>
            <a:r>
              <a:rPr kumimoji="0" lang="en-US" altLang="en-US" sz="155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based on their musical characteristics.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6AEA72-9B57-B994-C6E0-04E03A6C09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1006616"/>
              </p:ext>
            </p:extLst>
          </p:nvPr>
        </p:nvGraphicFramePr>
        <p:xfrm>
          <a:off x="2909298" y="875002"/>
          <a:ext cx="3186702" cy="1737360"/>
        </p:xfrm>
        <a:graphic>
          <a:graphicData uri="http://schemas.openxmlformats.org/drawingml/2006/table">
            <a:tbl>
              <a:tblPr>
                <a:tableStyleId>{616DA210-FB5B-4158-B5E0-FEB733F419BA}</a:tableStyleId>
              </a:tblPr>
              <a:tblGrid>
                <a:gridCol w="1889955">
                  <a:extLst>
                    <a:ext uri="{9D8B030D-6E8A-4147-A177-3AD203B41FA5}">
                      <a16:colId xmlns:a16="http://schemas.microsoft.com/office/drawing/2014/main" val="2012480969"/>
                    </a:ext>
                  </a:extLst>
                </a:gridCol>
                <a:gridCol w="1296747">
                  <a:extLst>
                    <a:ext uri="{9D8B030D-6E8A-4147-A177-3AD203B41FA5}">
                      <a16:colId xmlns:a16="http://schemas.microsoft.com/office/drawing/2014/main" val="2181274741"/>
                    </a:ext>
                  </a:extLst>
                </a:gridCol>
              </a:tblGrid>
              <a:tr h="271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Result</a:t>
                      </a:r>
                      <a:endParaRPr lang="en-IN" sz="1300" b="1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49338268"/>
                  </a:ext>
                </a:extLst>
              </a:tr>
              <a:tr h="271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Clusters Selected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42863517"/>
                  </a:ext>
                </a:extLst>
              </a:tr>
              <a:tr h="271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Songs </a:t>
                      </a:r>
                      <a:r>
                        <a:rPr lang="en-IN" sz="1300" b="0" dirty="0" err="1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Analyzed</a:t>
                      </a:r>
                      <a:endParaRPr lang="en-IN" sz="1300" b="0" dirty="0"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95,837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34648346"/>
                  </a:ext>
                </a:extLst>
              </a:tr>
              <a:tr h="271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Silhouette Score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0.2423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175444"/>
                  </a:ext>
                </a:extLst>
              </a:tr>
              <a:tr h="271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Davies-Bouldin Index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1.5702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81958220"/>
                  </a:ext>
                </a:extLst>
              </a:tr>
              <a:tr h="27198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Inertia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300" b="0" dirty="0"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658,335.08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202809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3336998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0D49F66-C6C6-96F1-FE4C-13BB6E1AF7B0}"/>
              </a:ext>
            </a:extLst>
          </p:cNvPr>
          <p:cNvSpPr txBox="1"/>
          <p:nvPr/>
        </p:nvSpPr>
        <p:spPr>
          <a:xfrm>
            <a:off x="1826230" y="347882"/>
            <a:ext cx="9691099" cy="48554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Conclusion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Successfully analyzed and clustered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95,837 songs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using unsupervised machine learning.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K-Means with 3 clusters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was selected using the Elbow Method and Silhouette analysis.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clusters revealed distinct audio profiles: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0: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Speech / Spoken-content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1: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Acoustic / Instrumental </a:t>
            </a:r>
          </a:p>
          <a:p>
            <a:pPr lvl="2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Cluster 2: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Energetic / Upbeat 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PCA, heatmaps, cluster profiling, and genre analysis were used to interpret the results.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• The clustering approach can support </a:t>
            </a: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playlist curation, song discovery, artist analysis, and music-content segmentation</a:t>
            </a: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Final Takeaway</a:t>
            </a:r>
          </a:p>
          <a:p>
            <a:pPr lvl="1">
              <a:lnSpc>
                <a:spcPct val="150000"/>
              </a:lnSpc>
            </a:pPr>
            <a:r>
              <a:rPr lang="en-US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Audio-based clustering provides a practical way to organize large music catalogs and identify meaningful groups without predefined genre labels.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48C886A-8498-CC7D-0F4D-C2BDAEF0D1EE}"/>
              </a:ext>
            </a:extLst>
          </p:cNvPr>
          <p:cNvSpPr txBox="1"/>
          <p:nvPr/>
        </p:nvSpPr>
        <p:spPr>
          <a:xfrm>
            <a:off x="3253691" y="5654130"/>
            <a:ext cx="6097712" cy="4255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Aft>
                <a:spcPts val="800"/>
              </a:spcAft>
              <a:buNone/>
            </a:pPr>
            <a:r>
              <a:rPr lang="en-IN" sz="2000" b="1" i="1" dirty="0">
                <a:solidFill>
                  <a:schemeClr val="accent2">
                    <a:lumMod val="7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Thank You!</a:t>
            </a:r>
            <a:endParaRPr lang="en-IN" sz="2800" i="1" kern="100" dirty="0">
              <a:solidFill>
                <a:schemeClr val="accent2">
                  <a:lumMod val="75000"/>
                </a:schemeClr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9362866"/>
      </p:ext>
    </p:extLst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404</TotalTime>
  <Words>1473</Words>
  <Application>Microsoft Office PowerPoint</Application>
  <PresentationFormat>Widescreen</PresentationFormat>
  <Paragraphs>157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Arial</vt:lpstr>
      <vt:lpstr>Calibri</vt:lpstr>
      <vt:lpstr>Century Gothic</vt:lpstr>
      <vt:lpstr>Wingdings 3</vt:lpstr>
      <vt:lpstr>Wisp</vt:lpstr>
      <vt:lpstr>Amazon Music Clustering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Silviya X</dc:creator>
  <cp:lastModifiedBy>Silviya X</cp:lastModifiedBy>
  <cp:revision>4</cp:revision>
  <dcterms:created xsi:type="dcterms:W3CDTF">2026-08-25T17:09:23Z</dcterms:created>
  <dcterms:modified xsi:type="dcterms:W3CDTF">2026-08-26T19:49:01Z</dcterms:modified>
</cp:coreProperties>
</file>